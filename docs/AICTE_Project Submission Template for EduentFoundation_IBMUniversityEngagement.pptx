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6" r:id="rId11"/>
    <p:sldId id="272"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p:scale>
          <a:sx n="66" d="100"/>
          <a:sy n="66" d="100"/>
        </p:scale>
        <p:origin x="132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4152658521"/>
              </p:ext>
            </p:extLst>
          </p:nvPr>
        </p:nvGraphicFramePr>
        <p:xfrm>
          <a:off x="1012723" y="2600315"/>
          <a:ext cx="9681533" cy="2167125"/>
        </p:xfrm>
        <a:graphic>
          <a:graphicData uri="http://schemas.openxmlformats.org/drawingml/2006/table">
            <a:tbl>
              <a:tblPr>
                <a:noFill/>
                <a:tableStyleId>{F063BE5B-8E01-4B91-9C5C-8479B17E1E5F}</a:tableStyleId>
              </a:tblPr>
              <a:tblGrid>
                <a:gridCol w="2127851">
                  <a:extLst>
                    <a:ext uri="{9D8B030D-6E8A-4147-A177-3AD203B41FA5}">
                      <a16:colId xmlns:a16="http://schemas.microsoft.com/office/drawing/2014/main" val="20000"/>
                    </a:ext>
                  </a:extLst>
                </a:gridCol>
                <a:gridCol w="2517894">
                  <a:extLst>
                    <a:ext uri="{9D8B030D-6E8A-4147-A177-3AD203B41FA5}">
                      <a16:colId xmlns:a16="http://schemas.microsoft.com/office/drawing/2014/main" val="20001"/>
                    </a:ext>
                  </a:extLst>
                </a:gridCol>
                <a:gridCol w="2517894">
                  <a:extLst>
                    <a:ext uri="{9D8B030D-6E8A-4147-A177-3AD203B41FA5}">
                      <a16:colId xmlns:a16="http://schemas.microsoft.com/office/drawing/2014/main" val="20002"/>
                    </a:ext>
                  </a:extLst>
                </a:gridCol>
                <a:gridCol w="2517894">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Manisha Angel Katragadda</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manishakatragadda2835@gmail.com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8919122761</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87" name="Google Shape;87;p2"/>
          <p:cNvPicPr preferRelativeResize="0"/>
          <p:nvPr/>
        </p:nvPicPr>
        <p:blipFill>
          <a:blip r:embed="rId3">
            <a:alphaModFix/>
          </a:blip>
          <a:srcRect/>
          <a:stretch/>
        </p:blipFill>
        <p:spPr>
          <a:xfrm>
            <a:off x="3901004" y="3608439"/>
            <a:ext cx="1076743" cy="1159001"/>
          </a:xfrm>
          <a:prstGeom prst="rect">
            <a:avLst/>
          </a:prstGeom>
          <a:noFill/>
          <a:ln>
            <a:noFill/>
          </a:ln>
        </p:spPr>
      </p:pic>
      <p:sp>
        <p:nvSpPr>
          <p:cNvPr id="88" name="Google Shape;88;p2"/>
          <p:cNvSpPr txBox="1"/>
          <p:nvPr/>
        </p:nvSpPr>
        <p:spPr>
          <a:xfrm>
            <a:off x="1215996"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i="0" u="none" strike="noStrike" cap="none" dirty="0">
                <a:solidFill>
                  <a:srgbClr val="000000"/>
                </a:solidFill>
                <a:highlight>
                  <a:srgbClr val="FFFF00"/>
                </a:highlight>
                <a:latin typeface="Arial"/>
                <a:ea typeface="Arial"/>
                <a:cs typeface="Arial"/>
                <a:sym typeface="Arial"/>
              </a:rPr>
              <a:t> Healthcare  </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IN" sz="2400" b="1" dirty="0">
                <a:highlight>
                  <a:srgbClr val="FFFF00"/>
                </a:highlight>
              </a:rPr>
              <a:t>Fitness Buddy: A Multi-Agent AI Fitness Assistant</a:t>
            </a:r>
            <a:endParaRPr sz="2400" b="1"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62209" y="796856"/>
            <a:ext cx="10607040" cy="56938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Problem Statement : </a:t>
            </a:r>
            <a:r>
              <a:rPr lang="en-US" b="1" dirty="0"/>
              <a:t>Fitness Buddy</a:t>
            </a:r>
            <a:endParaRPr dirty="0"/>
          </a:p>
          <a:p>
            <a:pPr marL="0" marR="0" lvl="0" indent="0" algn="l" rtl="0">
              <a:lnSpc>
                <a:spcPct val="100000"/>
              </a:lnSpc>
              <a:spcBef>
                <a:spcPts val="0"/>
              </a:spcBef>
              <a:spcAft>
                <a:spcPts val="0"/>
              </a:spcAft>
              <a:buNone/>
            </a:pPr>
            <a:endParaRPr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Challenge</a:t>
            </a:r>
            <a:r>
              <a:rPr lang="en-US" b="0" i="0" u="none" strike="noStrike" cap="none" dirty="0">
                <a:solidFill>
                  <a:srgbClr val="000000"/>
                </a:solidFill>
                <a:latin typeface="Arial"/>
                <a:ea typeface="Arial"/>
                <a:cs typeface="Arial"/>
                <a:sym typeface="Arial"/>
              </a:rPr>
              <a:t> </a:t>
            </a:r>
          </a:p>
          <a:p>
            <a:pPr marL="0" marR="0" lvl="0" indent="0" algn="l" rtl="0">
              <a:lnSpc>
                <a:spcPct val="100000"/>
              </a:lnSpc>
              <a:spcBef>
                <a:spcPts val="0"/>
              </a:spcBef>
              <a:spcAft>
                <a:spcPts val="0"/>
              </a:spcAft>
              <a:buNone/>
            </a:pPr>
            <a:r>
              <a:rPr lang="en-US" dirty="0"/>
              <a:t>In today’s fast-paced world, many individuals struggle to maintain a healthy lifestyle due </a:t>
            </a:r>
          </a:p>
          <a:p>
            <a:pPr marL="0" marR="0" lvl="0" indent="0" algn="l" rtl="0">
              <a:lnSpc>
                <a:spcPct val="100000"/>
              </a:lnSpc>
              <a:spcBef>
                <a:spcPts val="0"/>
              </a:spcBef>
              <a:spcAft>
                <a:spcPts val="0"/>
              </a:spcAft>
              <a:buNone/>
            </a:pPr>
            <a:r>
              <a:rPr lang="en-US" dirty="0"/>
              <a:t>to lack of personalized guidance, time constraints, and inconsistent motivation. Traditional fitness </a:t>
            </a:r>
          </a:p>
          <a:p>
            <a:pPr marL="0" marR="0" lvl="0" indent="0" algn="l" rtl="0">
              <a:lnSpc>
                <a:spcPct val="100000"/>
              </a:lnSpc>
              <a:spcBef>
                <a:spcPts val="0"/>
              </a:spcBef>
              <a:spcAft>
                <a:spcPts val="0"/>
              </a:spcAft>
              <a:buNone/>
            </a:pPr>
            <a:r>
              <a:rPr lang="en-US" dirty="0"/>
              <a:t>solutions often require expensive subscriptions, in-person consultations, or rigid schedules that don't </a:t>
            </a:r>
          </a:p>
          <a:p>
            <a:pPr marL="0" marR="0" lvl="0" indent="0" algn="l" rtl="0">
              <a:lnSpc>
                <a:spcPct val="100000"/>
              </a:lnSpc>
              <a:spcBef>
                <a:spcPts val="0"/>
              </a:spcBef>
              <a:spcAft>
                <a:spcPts val="0"/>
              </a:spcAft>
              <a:buNone/>
            </a:pPr>
            <a:r>
              <a:rPr lang="en-US" dirty="0"/>
              <a:t>adapt to personal preferences or daily routines.</a:t>
            </a:r>
            <a:endParaRPr dirty="0"/>
          </a:p>
          <a:p>
            <a:pPr marL="0" marR="0" lvl="0" indent="0" algn="l" rtl="0">
              <a:lnSpc>
                <a:spcPct val="100000"/>
              </a:lnSpc>
              <a:spcBef>
                <a:spcPts val="0"/>
              </a:spcBef>
              <a:spcAft>
                <a:spcPts val="0"/>
              </a:spcAft>
              <a:buNone/>
            </a:pPr>
            <a:endParaRPr lang="en-US" dirty="0"/>
          </a:p>
          <a:p>
            <a:pPr marL="0" marR="0" lvl="0" indent="0" algn="l" rtl="0">
              <a:lnSpc>
                <a:spcPct val="100000"/>
              </a:lnSpc>
              <a:spcBef>
                <a:spcPts val="0"/>
              </a:spcBef>
              <a:spcAft>
                <a:spcPts val="0"/>
              </a:spcAft>
              <a:buNone/>
            </a:pPr>
            <a:r>
              <a:rPr lang="en-US" b="1" i="0" u="none" strike="noStrike" cap="none" dirty="0">
                <a:solidFill>
                  <a:srgbClr val="000000"/>
                </a:solidFill>
                <a:latin typeface="Arial"/>
                <a:ea typeface="Arial"/>
                <a:cs typeface="Arial"/>
                <a:sym typeface="Arial"/>
              </a:rPr>
              <a:t>The Objective</a:t>
            </a:r>
            <a:r>
              <a:rPr lang="en-US" b="0" i="0" u="none" strike="noStrike" cap="none" dirty="0">
                <a:solidFill>
                  <a:srgbClr val="000000"/>
                </a:solidFill>
                <a:latin typeface="Arial"/>
                <a:ea typeface="Arial"/>
                <a:cs typeface="Arial"/>
                <a:sym typeface="Arial"/>
              </a:rPr>
              <a:t> </a:t>
            </a:r>
            <a:endParaRPr dirty="0"/>
          </a:p>
          <a:p>
            <a:r>
              <a:rPr lang="en-IN" dirty="0"/>
              <a:t>Build an </a:t>
            </a:r>
            <a:r>
              <a:rPr lang="en-IN" b="1" dirty="0"/>
              <a:t>AI-powered Fitness Buddy</a:t>
            </a:r>
            <a:r>
              <a:rPr lang="en-IN" dirty="0"/>
              <a:t> that provides </a:t>
            </a:r>
            <a:r>
              <a:rPr lang="en-IN" b="1" dirty="0"/>
              <a:t>personalized fitness guidance, lifestyle support, and basic nutrition advice</a:t>
            </a:r>
            <a:r>
              <a:rPr lang="en-IN" dirty="0"/>
              <a:t> to help users stay healthy and active anytime. The solution should:</a:t>
            </a:r>
          </a:p>
          <a:p>
            <a:r>
              <a:rPr lang="en-IN" b="1" dirty="0"/>
              <a:t>Personalized Workouts</a:t>
            </a:r>
            <a:r>
              <a:rPr lang="en-IN" dirty="0"/>
              <a:t> – Recommend home exercises based on fitness level, goals, and available time.</a:t>
            </a:r>
          </a:p>
          <a:p>
            <a:r>
              <a:rPr lang="en-IN" b="1" dirty="0"/>
              <a:t>Conversational Coaching</a:t>
            </a:r>
            <a:r>
              <a:rPr lang="en-IN" dirty="0"/>
              <a:t> – Offer real-time guidance through an interactive chatbot.</a:t>
            </a:r>
          </a:p>
          <a:p>
            <a:r>
              <a:rPr lang="en-IN" b="1" dirty="0"/>
              <a:t>Motivation &amp; Habit Building</a:t>
            </a:r>
            <a:r>
              <a:rPr lang="en-IN" dirty="0"/>
              <a:t> – Provide daily tips, reminders, and encouragement for consistency.</a:t>
            </a:r>
          </a:p>
          <a:p>
            <a:r>
              <a:rPr lang="en-IN" b="1" dirty="0"/>
              <a:t>Basic Nutrition Support</a:t>
            </a:r>
            <a:r>
              <a:rPr lang="en-IN" dirty="0"/>
              <a:t> – Suggest simple, healthy meal ideas aligned with fitness goals.</a:t>
            </a:r>
          </a:p>
          <a:p>
            <a:r>
              <a:rPr lang="en-IN" b="1" dirty="0"/>
              <a:t>Progress Tracking</a:t>
            </a:r>
            <a:r>
              <a:rPr lang="en-IN" dirty="0"/>
              <a:t> – Enable users to log workouts and receive feedback on performance.</a:t>
            </a:r>
          </a:p>
          <a:p>
            <a:endParaRPr lang="en-IN" dirty="0"/>
          </a:p>
          <a:p>
            <a:r>
              <a:rPr lang="en-IN" b="1" dirty="0"/>
              <a:t>Multi-Agent System</a:t>
            </a:r>
            <a:r>
              <a:rPr lang="en-IN" dirty="0"/>
              <a:t> –</a:t>
            </a:r>
          </a:p>
          <a:p>
            <a:r>
              <a:rPr lang="en-IN" b="1" dirty="0"/>
              <a:t>Workout Recommendation Agent</a:t>
            </a:r>
            <a:r>
              <a:rPr lang="en-IN" dirty="0"/>
              <a:t> (generates personalized exercise routines) </a:t>
            </a:r>
          </a:p>
          <a:p>
            <a:r>
              <a:rPr lang="en-IN" b="1" dirty="0"/>
              <a:t>Motivation &amp; Habit Agent</a:t>
            </a:r>
            <a:r>
              <a:rPr lang="en-IN" dirty="0"/>
              <a:t> (provides reminders and encouragement) </a:t>
            </a:r>
          </a:p>
          <a:p>
            <a:r>
              <a:rPr lang="en-IN" b="1" dirty="0"/>
              <a:t>Nutrition Suggestion Agent</a:t>
            </a:r>
            <a:r>
              <a:rPr lang="en-IN" dirty="0"/>
              <a:t> (offers simple meal guidance) </a:t>
            </a:r>
          </a:p>
          <a:p>
            <a:r>
              <a:rPr lang="en-IN" b="1" dirty="0"/>
              <a:t>Progress Tracking Agent</a:t>
            </a:r>
            <a:r>
              <a:rPr lang="en-IN" dirty="0"/>
              <a:t> (monitors activity and provides feedback) </a:t>
            </a:r>
          </a:p>
          <a:p>
            <a:endParaRPr lang="en-IN" dirty="0"/>
          </a:p>
          <a:p>
            <a:r>
              <a:rPr lang="en-IN" b="1" dirty="0"/>
              <a:t>Visualization Dashboard</a:t>
            </a:r>
            <a:r>
              <a:rPr lang="en-IN" dirty="0"/>
              <a:t> – Display workout history, consistency trends, calories burned, and progress toward fitness goals.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62209" y="251804"/>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656293" y="936427"/>
            <a:ext cx="10607040" cy="5262939"/>
          </a:xfrm>
          <a:prstGeom prst="rect">
            <a:avLst/>
          </a:prstGeom>
          <a:noFill/>
          <a:ln>
            <a:noFill/>
          </a:ln>
        </p:spPr>
        <p:txBody>
          <a:bodyPr spcFirstLastPara="1" wrap="square" lIns="91425" tIns="45700" rIns="91425" bIns="45700" anchor="t" anchorCtr="0">
            <a:spAutoFit/>
          </a:bodyPr>
          <a:lstStyle/>
          <a:p>
            <a:r>
              <a:rPr lang="en-IN" b="1" dirty="0"/>
              <a:t>Proposed Solution: AI-Powered Fitness Buddy</a:t>
            </a:r>
          </a:p>
          <a:p>
            <a:endParaRPr lang="en-IN" b="1" dirty="0"/>
          </a:p>
          <a:p>
            <a:r>
              <a:rPr lang="en-IN" dirty="0"/>
              <a:t>The proposed solution is a multi-agent AI-powered Fitness Buddy built using </a:t>
            </a:r>
            <a:r>
              <a:rPr lang="en-IN" dirty="0" err="1"/>
              <a:t>LangFlow</a:t>
            </a:r>
            <a:r>
              <a:rPr lang="en-IN" dirty="0"/>
              <a:t>, IBM watsonx.ai, and Granite models to deliver personalized fitness guidance, lifestyle support, and basic nutrition advice. It aims to address common challenges such as lack of consistency, improper workout planning, and limited access to reliable fitness guidance through an intelligent, adaptive, and user-friendly system.</a:t>
            </a:r>
          </a:p>
          <a:p>
            <a:r>
              <a:rPr lang="en-IN" dirty="0"/>
              <a:t>The solution leverages a Retrieval-Augmented Generation (RAG) approach to fetch accurate fitness and nutrition-related information from trusted sources. This data is embedded and stored in a vector database, enabling efficient retrieval and real-time generation of relevant recommendations tailored to each user’s profile, goals, and preferences.</a:t>
            </a:r>
          </a:p>
          <a:p>
            <a:endParaRPr lang="en-IN" dirty="0"/>
          </a:p>
          <a:p>
            <a:r>
              <a:rPr lang="en-IN" dirty="0"/>
              <a:t>The system includes four key agents:</a:t>
            </a:r>
            <a:br>
              <a:rPr lang="en-IN" dirty="0"/>
            </a:br>
            <a:r>
              <a:rPr lang="en-IN" dirty="0"/>
              <a:t>• </a:t>
            </a:r>
            <a:r>
              <a:rPr lang="en-IN" b="1" dirty="0"/>
              <a:t>Workout Recommendation Agent </a:t>
            </a:r>
            <a:r>
              <a:rPr lang="en-IN" dirty="0"/>
              <a:t>– suggests personalized home workouts based on fitness level and goals</a:t>
            </a:r>
            <a:br>
              <a:rPr lang="en-IN" dirty="0"/>
            </a:br>
            <a:r>
              <a:rPr lang="en-IN" dirty="0"/>
              <a:t>• </a:t>
            </a:r>
            <a:r>
              <a:rPr lang="en-IN" b="1" dirty="0"/>
              <a:t>Motivation &amp; Habit Agent </a:t>
            </a:r>
            <a:r>
              <a:rPr lang="en-IN" dirty="0"/>
              <a:t>– provides daily tips, reminders, and encouragement</a:t>
            </a:r>
            <a:br>
              <a:rPr lang="en-IN" dirty="0"/>
            </a:br>
            <a:r>
              <a:rPr lang="en-IN" dirty="0"/>
              <a:t>• </a:t>
            </a:r>
            <a:r>
              <a:rPr lang="en-IN" b="1" dirty="0"/>
              <a:t>Nutrition Suggestion Agent </a:t>
            </a:r>
            <a:r>
              <a:rPr lang="en-IN" dirty="0"/>
              <a:t>– offers simple meal guidance aligned with fitness goals</a:t>
            </a:r>
            <a:br>
              <a:rPr lang="en-IN" dirty="0"/>
            </a:br>
            <a:r>
              <a:rPr lang="en-IN" dirty="0"/>
              <a:t>• </a:t>
            </a:r>
            <a:r>
              <a:rPr lang="en-IN" b="1" dirty="0"/>
              <a:t>Progress Tracking Agent </a:t>
            </a:r>
            <a:r>
              <a:rPr lang="en-IN" dirty="0"/>
              <a:t>– monitors user activity and provides feedback</a:t>
            </a:r>
          </a:p>
          <a:p>
            <a:endParaRPr lang="en-IN" dirty="0"/>
          </a:p>
          <a:p>
            <a:r>
              <a:rPr lang="en-IN" dirty="0"/>
              <a:t>The solution also includes a user-friendly dashboard (built using </a:t>
            </a:r>
            <a:r>
              <a:rPr lang="en-IN" dirty="0" err="1"/>
              <a:t>Streamlit</a:t>
            </a:r>
            <a:r>
              <a:rPr lang="en-IN" dirty="0"/>
              <a:t> or React) that visualizes workout history, consistency trends, calories burned, and progress toward fitness goals, helping users stay informed and motivated.</a:t>
            </a:r>
          </a:p>
          <a:p>
            <a:r>
              <a:rPr lang="en-IN" dirty="0" err="1"/>
              <a:t>LangFlow</a:t>
            </a:r>
            <a:r>
              <a:rPr lang="en-IN" dirty="0"/>
              <a:t> is used to orchestrate agent workflows and ensure smooth interaction between components, while IBM watsonx.ai provides scalable model deployment, embeddings, and AI governance. Granite models power reasoning, personalization, and conversational capabilities.</a:t>
            </a:r>
          </a:p>
          <a:p>
            <a:r>
              <a:rPr lang="en-IN" dirty="0"/>
              <a:t>Overall, the Fitness Buddy acts as an intelligent virtual coach that supports users in building sustainable fitness habits, improving overall well-being, and achieving their health goals through personalized insights, continuous feedback, and real-time assistance.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656293" y="196969"/>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777240" y="1207008"/>
            <a:ext cx="10515600" cy="4955162"/>
          </a:xfrm>
          <a:prstGeom prst="rect">
            <a:avLst/>
          </a:prstGeom>
          <a:noFill/>
          <a:ln>
            <a:noFill/>
          </a:ln>
        </p:spPr>
        <p:txBody>
          <a:bodyPr spcFirstLastPara="1" wrap="square" lIns="91425" tIns="45700" rIns="91425" bIns="45700" anchor="t" anchorCtr="0">
            <a:spAutoFit/>
          </a:bodyPr>
          <a:lstStyle/>
          <a:p>
            <a:pPr marL="285750" lvl="0" indent="-171450">
              <a:buSzPts val="1800"/>
            </a:pPr>
            <a:endParaRPr lang="en-US" sz="1800" dirty="0"/>
          </a:p>
          <a:p>
            <a:pPr marL="285750" lvl="0" indent="-171450">
              <a:buSzPts val="1800"/>
            </a:pPr>
            <a:r>
              <a:rPr lang="en-US" sz="1800" dirty="0"/>
              <a:t>- </a:t>
            </a:r>
            <a:r>
              <a:rPr lang="en-US" sz="1800" b="1" dirty="0"/>
              <a:t>IBM </a:t>
            </a:r>
            <a:r>
              <a:rPr lang="en-US" sz="1800" b="1" dirty="0" err="1"/>
              <a:t>watsonx</a:t>
            </a:r>
            <a:r>
              <a:rPr lang="en-US" sz="1800" b="1" dirty="0"/>
              <a:t> Orchestrate </a:t>
            </a:r>
            <a:r>
              <a:rPr lang="en-US" sz="1800" dirty="0"/>
              <a:t>– Core platform used to build and deploy the Fitness Buddy agent, enabling structured multi-agent interactions for workout, nutrition, motivation, and tracking.</a:t>
            </a:r>
          </a:p>
          <a:p>
            <a:pPr marL="285750" lvl="0" indent="-171450">
              <a:buSzPts val="1800"/>
            </a:pPr>
            <a:endParaRPr lang="en-US" sz="1800" dirty="0"/>
          </a:p>
          <a:p>
            <a:pPr marL="285750" lvl="0" indent="-171450">
              <a:buSzPts val="1800"/>
            </a:pPr>
            <a:r>
              <a:rPr lang="en-US" sz="1800" dirty="0"/>
              <a:t>- </a:t>
            </a:r>
            <a:r>
              <a:rPr lang="en-US" sz="1800" b="1" dirty="0"/>
              <a:t>IBM Granite Model</a:t>
            </a:r>
            <a:r>
              <a:rPr lang="en-US" sz="1800" dirty="0"/>
              <a:t>– Provides natural language understanding and response generation, enabling personalized fitness guidance and conversational interaction.</a:t>
            </a:r>
          </a:p>
          <a:p>
            <a:pPr marL="285750" lvl="0" indent="-171450">
              <a:buSzPts val="1800"/>
            </a:pPr>
            <a:endParaRPr lang="en-US" sz="1800" dirty="0"/>
          </a:p>
          <a:p>
            <a:pPr marL="285750" lvl="0" indent="-171450">
              <a:buSzPts val="1800"/>
            </a:pPr>
            <a:r>
              <a:rPr lang="en-US" sz="1800" dirty="0"/>
              <a:t>- </a:t>
            </a:r>
            <a:r>
              <a:rPr lang="en-US" sz="1800" b="1" dirty="0"/>
              <a:t>Flask (Python) </a:t>
            </a:r>
            <a:r>
              <a:rPr lang="en-US" sz="1800" dirty="0"/>
              <a:t>– Lightweight backend framework used to serve the web application and integrate the </a:t>
            </a:r>
            <a:r>
              <a:rPr lang="en-US" sz="1800" dirty="0" err="1"/>
              <a:t>watsonx</a:t>
            </a:r>
            <a:r>
              <a:rPr lang="en-US" sz="1800" dirty="0"/>
              <a:t> Orchestrate chat widget.</a:t>
            </a:r>
          </a:p>
          <a:p>
            <a:pPr marL="285750" lvl="0" indent="-171450">
              <a:buSzPts val="1800"/>
            </a:pPr>
            <a:endParaRPr lang="en-US" sz="1800" dirty="0"/>
          </a:p>
          <a:p>
            <a:pPr marL="285750" lvl="0" indent="-171450">
              <a:buSzPts val="1800"/>
            </a:pPr>
            <a:r>
              <a:rPr lang="en-US" sz="1800" dirty="0"/>
              <a:t>- </a:t>
            </a:r>
            <a:r>
              <a:rPr lang="en-US" sz="1800" b="1" dirty="0"/>
              <a:t>HTML/CSS (Frontend)– </a:t>
            </a:r>
            <a:r>
              <a:rPr lang="en-US" sz="1800" dirty="0"/>
              <a:t>Simple user interface to interact with the Fitness Buddy agent via the embedded chat widget.</a:t>
            </a:r>
          </a:p>
          <a:p>
            <a:pPr marL="285750" lvl="0" indent="-171450">
              <a:buSzPts val="1800"/>
            </a:pPr>
            <a:endParaRPr lang="en-US" sz="1800" dirty="0"/>
          </a:p>
          <a:p>
            <a:pPr marL="285750" lvl="0" indent="-171450">
              <a:buSzPts val="1800"/>
            </a:pPr>
            <a:r>
              <a:rPr lang="en-US" sz="1800" dirty="0"/>
              <a:t>- </a:t>
            </a:r>
            <a:r>
              <a:rPr lang="en-US" sz="1800" b="1" dirty="0"/>
              <a:t>IBM Cloud </a:t>
            </a:r>
            <a:r>
              <a:rPr lang="en-US" sz="1800" dirty="0"/>
              <a:t>– Hosts and manages the </a:t>
            </a:r>
            <a:r>
              <a:rPr lang="en-US" sz="1800" dirty="0" err="1"/>
              <a:t>watsonx</a:t>
            </a:r>
            <a:r>
              <a:rPr lang="en-US" sz="1800" dirty="0"/>
              <a:t> Orchestrate service, ensuring scalability and reliability.</a:t>
            </a: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914400" y="289699"/>
            <a:ext cx="5900134"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769493" y="1275001"/>
            <a:ext cx="8823960" cy="4524275"/>
          </a:xfrm>
          <a:prstGeom prst="rect">
            <a:avLst/>
          </a:prstGeom>
          <a:noFill/>
          <a:ln>
            <a:noFill/>
          </a:ln>
        </p:spPr>
        <p:txBody>
          <a:bodyPr spcFirstLastPara="1" wrap="square" lIns="91425" tIns="45700" rIns="91425" bIns="45700" anchor="t" anchorCtr="0">
            <a:spAutoFit/>
          </a:bodyPr>
          <a:lstStyle/>
          <a:p>
            <a:pPr marL="342900" lvl="0" indent="-254000">
              <a:buSzPts val="1400"/>
            </a:pPr>
            <a:r>
              <a:rPr lang="en-US" sz="1600" b="1" dirty="0"/>
              <a:t>- Chat Input </a:t>
            </a:r>
            <a:r>
              <a:rPr lang="en-US" sz="1600" dirty="0"/>
              <a:t>– Users enter fitness goals or queries through a web interface (text-based input).</a:t>
            </a:r>
          </a:p>
          <a:p>
            <a:pPr marL="342900" lvl="0" indent="-254000">
              <a:buSzPts val="1400"/>
            </a:pPr>
            <a:endParaRPr lang="en-US" sz="1600" dirty="0"/>
          </a:p>
          <a:p>
            <a:pPr marL="342900" lvl="0" indent="-254000">
              <a:buSzPts val="1400"/>
            </a:pPr>
            <a:r>
              <a:rPr lang="en-US" sz="1600" b="1" dirty="0"/>
              <a:t>- </a:t>
            </a:r>
            <a:r>
              <a:rPr lang="en-US" sz="1600" b="1" dirty="0" err="1"/>
              <a:t>LangFlow</a:t>
            </a:r>
            <a:r>
              <a:rPr lang="en-US" sz="1600" b="1" dirty="0"/>
              <a:t> Workflow </a:t>
            </a:r>
            <a:r>
              <a:rPr lang="en-US" sz="1600" dirty="0"/>
              <a:t>– Used to visually design and structure the multi-agent logic, enabling coordination between Workout, Nutrition, Motivation, and Tracking agents.</a:t>
            </a:r>
          </a:p>
          <a:p>
            <a:pPr marL="342900" lvl="0" indent="-254000">
              <a:buSzPts val="1400"/>
            </a:pPr>
            <a:endParaRPr lang="en-US" sz="1600" dirty="0"/>
          </a:p>
          <a:p>
            <a:pPr marL="342900" lvl="0" indent="-254000">
              <a:buSzPts val="1400"/>
            </a:pPr>
            <a:r>
              <a:rPr lang="en-US" sz="1600" b="1" dirty="0"/>
              <a:t>- IBM </a:t>
            </a:r>
            <a:r>
              <a:rPr lang="en-US" sz="1600" b="1" dirty="0" err="1"/>
              <a:t>watsonx</a:t>
            </a:r>
            <a:r>
              <a:rPr lang="en-US" sz="1600" b="1" dirty="0"/>
              <a:t> Orchestrate Agent </a:t>
            </a:r>
            <a:r>
              <a:rPr lang="en-US" sz="1600" dirty="0"/>
              <a:t>– Executes the designed workflow and manages interactions between the different functional agents.</a:t>
            </a:r>
          </a:p>
          <a:p>
            <a:pPr marL="342900" lvl="0" indent="-254000">
              <a:buSzPts val="1400"/>
            </a:pPr>
            <a:endParaRPr lang="en-US" sz="1600" dirty="0"/>
          </a:p>
          <a:p>
            <a:pPr marL="342900" lvl="0" indent="-254000">
              <a:buSzPts val="1400"/>
            </a:pPr>
            <a:r>
              <a:rPr lang="en-US" sz="1600" b="1" dirty="0"/>
              <a:t>- IBM Granite Model </a:t>
            </a:r>
            <a:r>
              <a:rPr lang="en-US" sz="1600" dirty="0"/>
              <a:t>– Powers natural language understanding and generates personalized fitness responses.</a:t>
            </a:r>
          </a:p>
          <a:p>
            <a:pPr marL="342900" lvl="0" indent="-254000">
              <a:buSzPts val="1400"/>
            </a:pPr>
            <a:endParaRPr lang="en-US" sz="1600" dirty="0"/>
          </a:p>
          <a:p>
            <a:pPr marL="342900" lvl="0" indent="-254000">
              <a:buSzPts val="1400"/>
            </a:pPr>
            <a:r>
              <a:rPr lang="en-US" sz="1600" b="1" dirty="0"/>
              <a:t>- Chat Output</a:t>
            </a:r>
            <a:r>
              <a:rPr lang="en-US" sz="1600" dirty="0"/>
              <a:t>– Displays structured responses including workout plans, nutrition suggestions, motivational messages, and progress insights.</a:t>
            </a:r>
          </a:p>
          <a:p>
            <a:pPr marL="342900" lvl="0" indent="-254000">
              <a:buSzPts val="1400"/>
            </a:pPr>
            <a:endParaRPr lang="en-US" sz="1600" dirty="0"/>
          </a:p>
          <a:p>
            <a:pPr marL="342900" lvl="0" indent="-254000">
              <a:buSzPts val="1400"/>
            </a:pPr>
            <a:r>
              <a:rPr lang="en-US" sz="1600" b="1" dirty="0"/>
              <a:t>- Flask Backend</a:t>
            </a:r>
            <a:r>
              <a:rPr lang="en-US" sz="1600" dirty="0"/>
              <a:t>– Hosts the application and connects the frontend with the </a:t>
            </a:r>
            <a:r>
              <a:rPr lang="en-US" sz="1600" dirty="0" err="1"/>
              <a:t>watsonx</a:t>
            </a:r>
            <a:r>
              <a:rPr lang="en-US" sz="1600" dirty="0"/>
              <a:t> Orchestrate service.</a:t>
            </a:r>
          </a:p>
          <a:p>
            <a:pPr marL="342900" lvl="0" indent="-254000">
              <a:buSzPts val="1400"/>
            </a:pPr>
            <a:endParaRPr lang="en-US" sz="1600" dirty="0"/>
          </a:p>
          <a:p>
            <a:pPr marL="342900" lvl="0" indent="-254000">
              <a:buSzPts val="1400"/>
            </a:pPr>
            <a:r>
              <a:rPr lang="en-US" sz="1600" b="1" dirty="0"/>
              <a:t>- Frontend (HTML/CSS</a:t>
            </a:r>
            <a:r>
              <a:rPr lang="en-US" sz="1600" dirty="0"/>
              <a:t>) – Provides a simple user interface with an embedded chat widget.</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740780" y="242216"/>
            <a:ext cx="5821486"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126" name="Google Shape;126;p38"/>
          <p:cNvPicPr preferRelativeResize="0"/>
          <p:nvPr/>
        </p:nvPicPr>
        <p:blipFill>
          <a:blip r:embed="rId3">
            <a:alphaModFix/>
          </a:blip>
          <a:srcRect/>
          <a:stretch/>
        </p:blipFill>
        <p:spPr>
          <a:xfrm>
            <a:off x="740780" y="1029311"/>
            <a:ext cx="10891777" cy="550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925975" y="167833"/>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132" name="Google Shape;132;p7"/>
          <p:cNvPicPr preferRelativeResize="0"/>
          <p:nvPr/>
        </p:nvPicPr>
        <p:blipFill>
          <a:blip r:embed="rId3">
            <a:alphaModFix/>
          </a:blip>
          <a:srcRect/>
          <a:stretch/>
        </p:blipFill>
        <p:spPr>
          <a:xfrm>
            <a:off x="925975" y="675732"/>
            <a:ext cx="10139421" cy="601443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9" name="Google Shape;139;p9"/>
          <p:cNvSpPr txBox="1"/>
          <p:nvPr/>
        </p:nvSpPr>
        <p:spPr>
          <a:xfrm>
            <a:off x="625959" y="1040993"/>
            <a:ext cx="7406640" cy="5047495"/>
          </a:xfrm>
          <a:prstGeom prst="rect">
            <a:avLst/>
          </a:prstGeom>
          <a:noFill/>
          <a:ln>
            <a:noFill/>
          </a:ln>
        </p:spPr>
        <p:txBody>
          <a:bodyPr spcFirstLastPara="1" wrap="square" lIns="91425" tIns="45700" rIns="91425" bIns="45700" anchor="t" anchorCtr="0">
            <a:spAutoFit/>
          </a:bodyPr>
          <a:lstStyle/>
          <a:p>
            <a:pPr lvl="0"/>
            <a:r>
              <a:rPr lang="en-US" dirty="0"/>
              <a:t> </a:t>
            </a:r>
            <a:r>
              <a:rPr lang="en-US" b="1" dirty="0"/>
              <a:t>🤖 Role of Agentic AI in Fitness Buddy Agent</a:t>
            </a:r>
          </a:p>
          <a:p>
            <a:pPr lvl="0"/>
            <a:endParaRPr lang="en-US" dirty="0"/>
          </a:p>
          <a:p>
            <a:pPr lvl="0"/>
            <a:r>
              <a:rPr lang="en-US" dirty="0"/>
              <a:t>Agentic AI enables the Fitness Buddy to function as an intelligent system by organizing responses through a structured multi-agent design rather than a single monolithic chatbot.</a:t>
            </a:r>
          </a:p>
          <a:p>
            <a:pPr lvl="0"/>
            <a:r>
              <a:rPr lang="en-US" dirty="0"/>
              <a:t>Using IBM </a:t>
            </a:r>
            <a:r>
              <a:rPr lang="en-US" dirty="0" err="1"/>
              <a:t>watsonx</a:t>
            </a:r>
            <a:r>
              <a:rPr lang="en-US" dirty="0"/>
              <a:t> Orchestrate and IBM Granite models, the system coordinates multiple functional agents—Workout, Nutrition, Motivation, and Tracking—to generate well-structured and goal-oriented responses.</a:t>
            </a:r>
          </a:p>
          <a:p>
            <a:pPr lvl="0"/>
            <a:endParaRPr lang="en-US" dirty="0"/>
          </a:p>
          <a:p>
            <a:pPr lvl="0"/>
            <a:r>
              <a:rPr lang="en-US" dirty="0"/>
              <a:t>Each agent is responsible for a specific task:</a:t>
            </a:r>
          </a:p>
          <a:p>
            <a:pPr lvl="0"/>
            <a:r>
              <a:rPr lang="en-US" dirty="0"/>
              <a:t>- The Workout Agent generates exercise plans  </a:t>
            </a:r>
          </a:p>
          <a:p>
            <a:pPr lvl="0"/>
            <a:r>
              <a:rPr lang="en-US" dirty="0"/>
              <a:t>- The Nutrition Agent suggests basic meal guidance  </a:t>
            </a:r>
          </a:p>
          <a:p>
            <a:pPr lvl="0"/>
            <a:r>
              <a:rPr lang="en-US" dirty="0"/>
              <a:t>- The Motivation Agent provides encouragement  </a:t>
            </a:r>
          </a:p>
          <a:p>
            <a:pPr lvl="0"/>
            <a:r>
              <a:rPr lang="en-US" dirty="0"/>
              <a:t>- The Tracking Agent summarizes user progress based on input  </a:t>
            </a:r>
          </a:p>
          <a:p>
            <a:pPr lvl="0"/>
            <a:r>
              <a:rPr lang="en-US" dirty="0"/>
              <a:t>These agents work together within a single workflow, ensuring that responses are organized, relevant, and aligned with the user’s fitness goals.</a:t>
            </a:r>
          </a:p>
          <a:p>
            <a:pPr lvl="0"/>
            <a:endParaRPr lang="en-US" dirty="0"/>
          </a:p>
          <a:p>
            <a:pPr lvl="0"/>
            <a:r>
              <a:rPr lang="en-US" dirty="0"/>
              <a:t>Agentic AI in this project introduces **task specialization and structured reasoning**, allowing the system to break down user queries into meaningful components and respond in a more organized and helpful way.</a:t>
            </a:r>
          </a:p>
          <a:p>
            <a:pPr lvl="0"/>
            <a:endParaRPr lang="en-US" dirty="0"/>
          </a:p>
          <a:p>
            <a:pPr lvl="0"/>
            <a:r>
              <a:rPr lang="en-US" dirty="0"/>
              <a:t>Overall, Agentic AI enhances the Fitness Buddy by making it more structured, modular, and user-focused—acting as a smart virtual fitness assistant that delivers clear and actionable guidance.</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698582" y="299437"/>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698582" y="946297"/>
            <a:ext cx="11301984" cy="5262939"/>
          </a:xfrm>
          <a:prstGeom prst="rect">
            <a:avLst/>
          </a:prstGeom>
          <a:noFill/>
          <a:ln>
            <a:noFill/>
          </a:ln>
        </p:spPr>
        <p:txBody>
          <a:bodyPr spcFirstLastPara="1" wrap="square" lIns="91425" tIns="45700" rIns="91425" bIns="45700" anchor="t" anchorCtr="0">
            <a:spAutoFit/>
          </a:bodyPr>
          <a:lstStyle/>
          <a:p>
            <a:endParaRPr lang="en-US" sz="1600" dirty="0"/>
          </a:p>
          <a:p>
            <a:r>
              <a:rPr lang="en-US" sz="1600" dirty="0"/>
              <a:t>The Fitness Buddy stands out by leveraging a structured multi-agent design combined with modern AI capabilities to deliver organized and user-focused fitness guidance.</a:t>
            </a:r>
          </a:p>
          <a:p>
            <a:endParaRPr lang="en-US" sz="1600" dirty="0"/>
          </a:p>
          <a:p>
            <a:r>
              <a:rPr lang="en-US" sz="1600" dirty="0"/>
              <a:t>- </a:t>
            </a:r>
            <a:r>
              <a:rPr lang="en-US" sz="1600" b="1" dirty="0"/>
              <a:t>Multi-Agent Intelligence </a:t>
            </a:r>
            <a:r>
              <a:rPr lang="en-US" sz="1600" dirty="0"/>
              <a:t>– Instead of a single chatbot, the system uses multiple specialized agents (Workout, Nutrition, Motivation, Tracking) that work together to generate structured and relevant responses.</a:t>
            </a:r>
          </a:p>
          <a:p>
            <a:endParaRPr lang="en-US" sz="1600" b="1" dirty="0"/>
          </a:p>
          <a:p>
            <a:r>
              <a:rPr lang="en-US" sz="1600" b="1" dirty="0"/>
              <a:t>- Structured Response Design</a:t>
            </a:r>
            <a:r>
              <a:rPr lang="en-US" sz="1600" dirty="0"/>
              <a:t>– Each agent contributes a specific part of the output, resulting in clear, well-organized fitness plans, suggestions, and feedback.</a:t>
            </a:r>
          </a:p>
          <a:p>
            <a:endParaRPr lang="en-US" sz="1600" dirty="0"/>
          </a:p>
          <a:p>
            <a:r>
              <a:rPr lang="en-US" sz="1600" b="1" dirty="0"/>
              <a:t>- Input-Based Personalization</a:t>
            </a:r>
            <a:r>
              <a:rPr lang="en-US" sz="1600" dirty="0"/>
              <a:t>– Recommendations are tailored based on user-provided inputs such as fitness goals, preferences, and activity level.</a:t>
            </a:r>
          </a:p>
          <a:p>
            <a:endParaRPr lang="en-US" sz="1600" dirty="0"/>
          </a:p>
          <a:p>
            <a:r>
              <a:rPr lang="en-US" sz="1600" dirty="0"/>
              <a:t>- </a:t>
            </a:r>
            <a:r>
              <a:rPr lang="en-US" sz="1600" b="1" dirty="0"/>
              <a:t>Context-Aware Interaction</a:t>
            </a:r>
            <a:r>
              <a:rPr lang="en-US" sz="1600" dirty="0"/>
              <a:t>– The system understands user queries within a single interaction and generates responses that align with the user’s intent.</a:t>
            </a:r>
          </a:p>
          <a:p>
            <a:endParaRPr lang="en-US" sz="1600" dirty="0"/>
          </a:p>
          <a:p>
            <a:r>
              <a:rPr lang="en-US" sz="1600" dirty="0"/>
              <a:t>- </a:t>
            </a:r>
            <a:r>
              <a:rPr lang="en-US" sz="1600" b="1" dirty="0"/>
              <a:t>Holistic Fitness Support</a:t>
            </a:r>
            <a:r>
              <a:rPr lang="en-US" sz="1600" dirty="0"/>
              <a:t>– Covers multiple aspects of fitness, including workouts, basic nutrition guidance, and motivation, providing a more complete user experience.</a:t>
            </a:r>
          </a:p>
          <a:p>
            <a:endParaRPr lang="en-US" sz="1600" dirty="0"/>
          </a:p>
          <a:p>
            <a:r>
              <a:rPr lang="en-US" sz="1600" b="1" dirty="0"/>
              <a:t>- Scalable Architecture </a:t>
            </a:r>
            <a:r>
              <a:rPr lang="en-US" sz="1600" dirty="0"/>
              <a:t>– Built using IBM </a:t>
            </a:r>
            <a:r>
              <a:rPr lang="en-US" sz="1600" dirty="0" err="1"/>
              <a:t>watsonx</a:t>
            </a:r>
            <a:r>
              <a:rPr lang="en-US" sz="1600" dirty="0"/>
              <a:t> Orchestrate and IBM Granite models, ensuring a reliable and extensible AI-powered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E6757-762E-CF89-5060-03BAC5878A66}"/>
              </a:ext>
            </a:extLst>
          </p:cNvPr>
          <p:cNvSpPr>
            <a:spLocks noGrp="1"/>
          </p:cNvSpPr>
          <p:nvPr>
            <p:ph type="title"/>
          </p:nvPr>
        </p:nvSpPr>
        <p:spPr>
          <a:xfrm>
            <a:off x="838200" y="365126"/>
            <a:ext cx="7298803" cy="315912"/>
          </a:xfrm>
        </p:spPr>
        <p:txBody>
          <a:bodyPr>
            <a:noAutofit/>
          </a:bodyPr>
          <a:lstStyle/>
          <a:p>
            <a:r>
              <a:rPr lang="en-IN" sz="2800" dirty="0">
                <a:latin typeface="+mn-lt"/>
              </a:rPr>
              <a:t>Screenshots-</a:t>
            </a:r>
          </a:p>
        </p:txBody>
      </p:sp>
      <p:sp>
        <p:nvSpPr>
          <p:cNvPr id="3" name="Text Placeholder 2">
            <a:extLst>
              <a:ext uri="{FF2B5EF4-FFF2-40B4-BE49-F238E27FC236}">
                <a16:creationId xmlns:a16="http://schemas.microsoft.com/office/drawing/2014/main" id="{4EF2E242-D2CE-826B-D333-75ACDC96D5A9}"/>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EF0AE03A-B142-4F62-9C51-F90429C83755}"/>
              </a:ext>
            </a:extLst>
          </p:cNvPr>
          <p:cNvPicPr>
            <a:picLocks noChangeAspect="1"/>
          </p:cNvPicPr>
          <p:nvPr/>
        </p:nvPicPr>
        <p:blipFill>
          <a:blip r:embed="rId2"/>
          <a:stretch>
            <a:fillRect/>
          </a:stretch>
        </p:blipFill>
        <p:spPr>
          <a:xfrm>
            <a:off x="439838" y="934678"/>
            <a:ext cx="11091871" cy="5338802"/>
          </a:xfrm>
          <a:prstGeom prst="rect">
            <a:avLst/>
          </a:prstGeom>
        </p:spPr>
      </p:pic>
    </p:spTree>
    <p:extLst>
      <p:ext uri="{BB962C8B-B14F-4D97-AF65-F5344CB8AC3E}">
        <p14:creationId xmlns:p14="http://schemas.microsoft.com/office/powerpoint/2010/main" val="2388034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000" dirty="0"/>
              <a:t>https://github.com/KMA70/Fitness_Buddy_Agent</a:t>
            </a: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endParaRPr lang="en-US" sz="1600" dirty="0"/>
          </a:p>
          <a:p>
            <a:r>
              <a:rPr lang="en-US" sz="1600" b="1" dirty="0"/>
              <a:t>- Gamification &amp; Reward System</a:t>
            </a:r>
          </a:p>
          <a:p>
            <a:r>
              <a:rPr lang="en-US" sz="1600" dirty="0"/>
              <a:t>  Introduce features such as streak tracking, achievement badges, and reward mechanisms to improve user engagement and consistency. This can help users stay motivated and build long-term fitness habits.</a:t>
            </a:r>
          </a:p>
          <a:p>
            <a:endParaRPr lang="en-US" sz="1600" dirty="0"/>
          </a:p>
          <a:p>
            <a:r>
              <a:rPr lang="en-US" sz="1600" b="1" dirty="0"/>
              <a:t>-Adaptive Personalized AI Coach </a:t>
            </a:r>
          </a:p>
          <a:p>
            <a:r>
              <a:rPr lang="en-US" sz="1600" dirty="0"/>
              <a:t>  Enhance the system with learning capabilities that analyze user inputs and interactions over time to dynamically refine workout plans and recommendations.</a:t>
            </a:r>
          </a:p>
          <a:p>
            <a:endParaRPr lang="en-US" sz="1600" dirty="0"/>
          </a:p>
          <a:p>
            <a:r>
              <a:rPr lang="en-US" sz="1600" b="1" dirty="0"/>
              <a:t>- Social &amp; Community Features</a:t>
            </a:r>
          </a:p>
          <a:p>
            <a:r>
              <a:rPr lang="en-US" sz="1600" dirty="0"/>
              <a:t>  Enable users to participate in fitness challenges, share progress, and interact with others through leaderboards or group activities, encouraging accountability and motivation.</a:t>
            </a:r>
          </a:p>
          <a:p>
            <a:endParaRPr lang="en-US" sz="1600" dirty="0"/>
          </a:p>
          <a:p>
            <a:r>
              <a:rPr lang="en-US" sz="1600" b="1" dirty="0"/>
              <a:t>- Injury Prevention &amp; Recovery Guidance</a:t>
            </a:r>
          </a:p>
          <a:p>
            <a:r>
              <a:rPr lang="en-US" sz="1600" dirty="0"/>
              <a:t>  Incorporate guidance for warm-ups, cooldowns, and recovery routines. Future versions could also detect potential overtraining patterns and suggest rest or lighter workouts.</a:t>
            </a:r>
            <a:endParaRPr lang="en-IN" sz="1600" dirty="0"/>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43"/>
          <p:cNvPicPr preferRelativeResize="0"/>
          <p:nvPr/>
        </p:nvPicPr>
        <p:blipFill>
          <a:blip r:embed="rId3">
            <a:alphaModFix/>
          </a:blip>
          <a:srcRect/>
          <a:stretch/>
        </p:blipFill>
        <p:spPr>
          <a:xfrm>
            <a:off x="2049565" y="1436416"/>
            <a:ext cx="6389965" cy="4520796"/>
          </a:xfrm>
          <a:prstGeom prst="rect">
            <a:avLst/>
          </a:prstGeom>
          <a:noFill/>
          <a:ln>
            <a:noFill/>
          </a:ln>
        </p:spPr>
      </p:pic>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44"/>
          <p:cNvPicPr preferRelativeResize="0"/>
          <p:nvPr/>
        </p:nvPicPr>
        <p:blipFill>
          <a:blip r:embed="rId3">
            <a:alphaModFix/>
          </a:blip>
          <a:srcRect l="969" r="969"/>
          <a:stretch/>
        </p:blipFill>
        <p:spPr>
          <a:xfrm>
            <a:off x="2512736" y="1712637"/>
            <a:ext cx="7177553" cy="4658577"/>
          </a:xfrm>
          <a:prstGeom prst="rect">
            <a:avLst/>
          </a:prstGeom>
          <a:noFill/>
          <a:ln>
            <a:noFill/>
          </a:ln>
        </p:spPr>
      </p:pic>
      <p:sp>
        <p:nvSpPr>
          <p:cNvPr id="189" name="Google Shape;189;p44"/>
          <p:cNvSpPr txBox="1"/>
          <p:nvPr/>
        </p:nvSpPr>
        <p:spPr>
          <a:xfrm>
            <a:off x="668309" y="40337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r>
              <a:rPr lang="en-US" sz="2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675</TotalTime>
  <Words>1411</Words>
  <Application>Microsoft Office PowerPoint</Application>
  <PresentationFormat>Widescreen</PresentationFormat>
  <Paragraphs>128</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Screenshots-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Manisha Angel</cp:lastModifiedBy>
  <cp:revision>3</cp:revision>
  <dcterms:created xsi:type="dcterms:W3CDTF">2025-07-08T05:06:56Z</dcterms:created>
  <dcterms:modified xsi:type="dcterms:W3CDTF">2026-07-15T11:29:39Z</dcterms:modified>
</cp:coreProperties>
</file>